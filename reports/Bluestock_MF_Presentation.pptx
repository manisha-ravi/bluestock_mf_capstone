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AUM by Fund House — Dec 2025 (Rs. Lakh Crore)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(Rs. Lakh Cr)</c:v>
                </c:pt>
              </c:strCache>
            </c:strRef>
          </c:tx>
          <c:spPr>
            <a:solidFill>
              <a:srgbClr val="1CA1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</c:v>
                </c:pt>
                <c:pt idx="4">
                  <c:v>Kotak</c:v>
                </c:pt>
                <c:pt idx="5">
                  <c:v>Axis</c:v>
                </c:pt>
                <c:pt idx="6">
                  <c:v>UTI</c:v>
                </c:pt>
                <c:pt idx="7">
                  <c:v>DSP</c:v>
                </c:pt>
                <c:pt idx="8">
                  <c:v>Mirae</c:v>
                </c:pt>
                <c:pt idx="9">
                  <c:v>Franklin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10.74</c:v>
                </c:pt>
                <c:pt idx="2">
                  <c:v>9.3000000000000007</c:v>
                </c:pt>
                <c:pt idx="3">
                  <c:v>4.6500000000000004</c:v>
                </c:pt>
                <c:pt idx="4">
                  <c:v>4.25</c:v>
                </c:pt>
                <c:pt idx="5">
                  <c:v>3.8</c:v>
                </c:pt>
                <c:pt idx="6">
                  <c:v>3.1</c:v>
                </c:pt>
                <c:pt idx="7">
                  <c:v>2.7</c:v>
                </c:pt>
                <c:pt idx="8">
                  <c:v>2.5</c:v>
                </c:pt>
                <c:pt idx="9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BB-4A91-A27D-F12F86DFCB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SIP Inflow Trend 2022–2025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(Rs. Crore)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Jul-25</c:v>
                </c:pt>
                <c:pt idx="8">
                  <c:v>Dec-25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11000</c:v>
                </c:pt>
                <c:pt idx="1">
                  <c:v>12200</c:v>
                </c:pt>
                <c:pt idx="2">
                  <c:v>13800</c:v>
                </c:pt>
                <c:pt idx="3">
                  <c:v>15500</c:v>
                </c:pt>
                <c:pt idx="4">
                  <c:v>18500</c:v>
                </c:pt>
                <c:pt idx="5">
                  <c:v>22000</c:v>
                </c:pt>
                <c:pt idx="6">
                  <c:v>25000</c:v>
                </c:pt>
                <c:pt idx="7">
                  <c:v>27500</c:v>
                </c:pt>
                <c:pt idx="8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02A-4143-AC8C-FA63BE626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Investor Age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A1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71-4039-914B-FE7B475CEBD6}"/>
              </c:ext>
            </c:extLst>
          </c:dPt>
          <c:dPt>
            <c:idx val="1"/>
            <c:bubble3D val="0"/>
            <c:spPr>
              <a:solidFill>
                <a:srgbClr val="0B24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71-4039-914B-FE7B475CEBD6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71-4039-914B-FE7B475CEBD6}"/>
              </c:ext>
            </c:extLst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71-4039-914B-FE7B475CEBD6}"/>
              </c:ext>
            </c:extLst>
          </c:dPt>
          <c:dPt>
            <c:idx val="4"/>
            <c:bubble3D val="0"/>
            <c:spPr>
              <a:solidFill>
                <a:srgbClr val="A5D8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71-4039-914B-FE7B475CEBD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71-4039-914B-FE7B475CEBD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71-4039-914B-FE7B475CEBD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71-4039-914B-FE7B475CEBD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71-4039-914B-FE7B475CEBD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71-4039-914B-FE7B475CEBD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</c:v>
                </c:pt>
                <c:pt idx="2">
                  <c:v>28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71-4039-914B-FE7B475CEB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Category-wise Net Inflows FY25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 (Rs. Crore)</c:v>
                </c:pt>
              </c:strCache>
            </c:strRef>
          </c:tx>
          <c:spPr>
            <a:solidFill>
              <a:srgbClr val="0B2447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ELSS</c:v>
                </c:pt>
                <c:pt idx="4">
                  <c:v>Flexi Cap</c:v>
                </c:pt>
                <c:pt idx="5">
                  <c:v>Liquid</c:v>
                </c:pt>
                <c:pt idx="6">
                  <c:v>Index</c:v>
                </c:pt>
                <c:pt idx="7">
                  <c:v>Hybrid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8200</c:v>
                </c:pt>
                <c:pt idx="1">
                  <c:v>12400</c:v>
                </c:pt>
                <c:pt idx="2">
                  <c:v>9800</c:v>
                </c:pt>
                <c:pt idx="3">
                  <c:v>3100</c:v>
                </c:pt>
                <c:pt idx="4">
                  <c:v>15200</c:v>
                </c:pt>
                <c:pt idx="5">
                  <c:v>-2400</c:v>
                </c:pt>
                <c:pt idx="6">
                  <c:v>18600</c:v>
                </c:pt>
                <c:pt idx="7">
                  <c:v>6700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B6-4437-9A81-423B7CDFC9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Cumulative Returns Jan 2022 – Dec 2025 (Indexed to 100)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ICICI Pru Bluechip</c:v>
                </c:pt>
              </c:strCache>
            </c:strRef>
          </c:tx>
          <c:spPr>
            <a:ln w="38100" cap="flat">
              <a:solidFill>
                <a:srgbClr val="1CA1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A1A5"/>
              </a:solidFill>
              <a:ln w="9525" cap="flat">
                <a:solidFill>
                  <a:srgbClr val="1CA1A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88</c:v>
                </c:pt>
                <c:pt idx="2">
                  <c:v>103</c:v>
                </c:pt>
                <c:pt idx="3">
                  <c:v>118</c:v>
                </c:pt>
                <c:pt idx="4">
                  <c:v>131</c:v>
                </c:pt>
                <c:pt idx="5">
                  <c:v>148</c:v>
                </c:pt>
                <c:pt idx="6">
                  <c:v>162</c:v>
                </c:pt>
                <c:pt idx="7">
                  <c:v>175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B6B-4329-A48E-EF8D771FAC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SBI Bluechip</c:v>
                </c:pt>
              </c:strCache>
            </c:strRef>
          </c:tx>
          <c:spPr>
            <a:ln w="38100" cap="flat">
              <a:solidFill>
                <a:srgbClr val="0B244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2447"/>
              </a:solidFill>
              <a:ln w="9525" cap="flat">
                <a:solidFill>
                  <a:srgbClr val="0B244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105</c:v>
                </c:pt>
                <c:pt idx="3">
                  <c:v>117</c:v>
                </c:pt>
                <c:pt idx="4">
                  <c:v>128</c:v>
                </c:pt>
                <c:pt idx="5">
                  <c:v>143</c:v>
                </c:pt>
                <c:pt idx="6">
                  <c:v>155</c:v>
                </c:pt>
                <c:pt idx="7">
                  <c:v>168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B6B-4329-A48E-EF8D771FAC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Nifty 100 Index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</c:v>
                </c:pt>
                <c:pt idx="1">
                  <c:v>87</c:v>
                </c:pt>
                <c:pt idx="2">
                  <c:v>100</c:v>
                </c:pt>
                <c:pt idx="3">
                  <c:v>115</c:v>
                </c:pt>
                <c:pt idx="4">
                  <c:v>126</c:v>
                </c:pt>
                <c:pt idx="5">
                  <c:v>140</c:v>
                </c:pt>
                <c:pt idx="6">
                  <c:v>151</c:v>
                </c:pt>
                <c:pt idx="7">
                  <c:v>163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B6B-4329-A48E-EF8D771FAC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Nifty 50 Index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100</c:v>
                </c:pt>
                <c:pt idx="1">
                  <c:v>86</c:v>
                </c:pt>
                <c:pt idx="2">
                  <c:v>98</c:v>
                </c:pt>
                <c:pt idx="3">
                  <c:v>112</c:v>
                </c:pt>
                <c:pt idx="4">
                  <c:v>124</c:v>
                </c:pt>
                <c:pt idx="5">
                  <c:v>138</c:v>
                </c:pt>
                <c:pt idx="6">
                  <c:v>149</c:v>
                </c:pt>
                <c:pt idx="7">
                  <c:v>161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B6B-4329-A48E-EF8D771FAC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92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covers a full-stack Mutual Fund Analytics Platform built over 7 days at Bluestock Fintech.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MF industry manages Rs.81 lakh crore. Our platform solves 5 core data fragmentation and analytics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sourced from AMFI India, mfapi.in, NSE/BSE public data. NAV values anchored to real mfapi.in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5-layer architecture: Extract from AMFI/mfapi → Transform with pandas → Load to SQLite → Analyse in Jupyter → Visualise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SBI dominates with Rs.12.5 lakh crore AUM. Monthly SIP inflows hit an all-time high of Rs.31,002 crore in December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26-35 age bracket is the primary SIP investor segment. Index fund inflows surged 40% YoY in FY25.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ICICI Pru Bluechip scores highest at 85/100 driven by 18.2% 3-year CAGR and Sharpe ratio of 1.51.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large-cap funds consistently outperformed Nifty benchmarks. ICICI Pru Bluechip delivered 75 basis points of annual alpha over 3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1: Industry AUM peaked ~15M in 2024. SBI leads Top 10 AMCs. Page 2: Avg Sharpe 1.96 across 40 schemes. SBI Small Cap 32.4% CAGR — top performer.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3: Punjab &amp; Tamil Nadu lead transaction amounts. Lumpsum 58.5% dominates. Page 4: SIP inflows grew 149K→336K (2022–2025). Liquid category leads FY25 with Rs.4.51L.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Drill-through page: select any fund from the scorecard to view its full daily NAV trend. Shows Dec 2025 NAV movement across 40 fund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findings validated by actual dashboard data: structural SIP growth, active fund alpha, sector concentration risk, demographic insights, lumpsum dominance, and fund selection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 on the ETL pipeline, risk metric calculations, or dashboard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BLUESTOCK FINTECH  |  DATA ANALYTICS INTERNSHIP  |  JUNE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Mutual Fund Analytics 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5D8DD"/>
                </a:solidFill>
              </a:rPr>
              <a:t>End-to-End Data Engineering, ETL Pipeline &amp; Interactive Dashboard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INTERN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Manisha Ravikumar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DURATION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060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 Working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DOMAIN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Mutual Fund / Fintech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DATA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208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40 Schemes · 87K+ Rows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A8B"/>
                </a:solidFill>
              </a:rPr>
              <a:t>Prepared by Manisha Ravikumar  |  Bluestock Fintech Pvt. Ltd.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1A5"/>
                </a:solidFill>
              </a:rPr>
              <a:t>THE PROBLEMS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36192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36192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4996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Data Fragmentation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NAV, AUM &amp; SIP data scattered across formats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94560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94560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1579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No Risk-Adjusted 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Investors can't compare funds on Sharpe/Alpha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852928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52928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No Benchmark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Retail investors miss tracking error signals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511296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11296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Investor Blindspot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941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Demographic &amp; geographic behaviour unknown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69664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69664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4133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Slow Static Reports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3525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Monthly PDFs take days; no drill-down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1A5"/>
                </a:solidFill>
              </a:rPr>
              <a:t>OUR OBJECTIVES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463040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Build automated ETL pipeline from AMFI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88366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1883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18836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Design 5-table star schema SQLite database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30428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2304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Perform EDA on NAV, AUM &amp; SIP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724912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00600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66360" y="27249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Compute Sharpe, Sortino, Alpha, Beta metrics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145536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3145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3145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Build 4-page interactive Power BI dashboard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566160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0060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Analyse investor transaction demographics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98678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00600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Benchmark fund returns vs Nifty 50/100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40740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00600" y="4407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66360" y="4407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Document &amp; present the full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Data Sources &amp; Datasets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Fund Master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40 schemes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AMFI codes, categories, expense ratios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66544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9464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11" name="Text 9"/>
          <p:cNvSpPr/>
          <p:nvPr/>
        </p:nvSpPr>
        <p:spPr>
          <a:xfrm>
            <a:off x="2569464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66544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NAV History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66544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~46K rows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9696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Daily NAV Jan 2022 – May 2026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67328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0248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17" name="Text 15"/>
          <p:cNvSpPr/>
          <p:nvPr/>
        </p:nvSpPr>
        <p:spPr>
          <a:xfrm>
            <a:off x="4270248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AUM by Fund House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67328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~90 rows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Quarterly AUM for 10 AMCs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68112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71032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23" name="Text 21"/>
          <p:cNvSpPr/>
          <p:nvPr/>
        </p:nvSpPr>
        <p:spPr>
          <a:xfrm>
            <a:off x="5971032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8112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Monthly SIP Inflows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68112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48 rows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SIP Rs.31,002 Cr ATH Dec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68896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71816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29" name="Text 27"/>
          <p:cNvSpPr/>
          <p:nvPr/>
        </p:nvSpPr>
        <p:spPr>
          <a:xfrm>
            <a:off x="7671816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68896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Category Inflows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68896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~144 rows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Net inflows by fund category FY25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8680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Folio 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21 rows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26.12 crore folios by Dec 2025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66544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9464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41" name="Text 39"/>
          <p:cNvSpPr/>
          <p:nvPr/>
        </p:nvSpPr>
        <p:spPr>
          <a:xfrm>
            <a:off x="2569464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066544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Scheme Performance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66544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40 rows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39696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Sharpe, Alpha, Beta, Max Drawdown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767328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70248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47" name="Text 45"/>
          <p:cNvSpPr/>
          <p:nvPr/>
        </p:nvSpPr>
        <p:spPr>
          <a:xfrm>
            <a:off x="4270248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767328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Investor Transactions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67328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~32K rows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5000 investors, 12 states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68112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971032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53" name="Text 51"/>
          <p:cNvSpPr/>
          <p:nvPr/>
        </p:nvSpPr>
        <p:spPr>
          <a:xfrm>
            <a:off x="5971032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68112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Portfolio Holdings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68112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~320 rows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41264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Top equity holdings by sector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168896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671816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59" name="Text 57"/>
          <p:cNvSpPr/>
          <p:nvPr/>
        </p:nvSpPr>
        <p:spPr>
          <a:xfrm>
            <a:off x="7671816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168896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Benchmark Indices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68896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~8K rows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242048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Nifty 50/100, BSE SmallCap, CRISIL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 &amp; ETL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1CA1A5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005840"/>
            <a:ext cx="594360" cy="502920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EXTRACT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AMFI NAV TXT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mfapi.in REST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NSE/BSE Bhavcopy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10 CSV Datasets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0891B2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1005840"/>
            <a:ext cx="59436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TRANSFORM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Python / Pandas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Parse &amp; clean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Forward-fill NAV gaps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Compute daily returns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Validate AMFI codes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1D4ED8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51960" y="1005840"/>
            <a:ext cx="59436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4904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SQLite Database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5-table star schema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dim_fund, dim_date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fact_nav, fact_tx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46K+ rows loaded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89320" y="1005840"/>
            <a:ext cx="59436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ANALYSE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Jupyter Notebooks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15+ EDA charts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Sharpe / Sortino / Alpha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Benchmark comparison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Cohort analysis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2376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BE185D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26680" y="1005840"/>
            <a:ext cx="594360" cy="50292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45" name="Text 43"/>
          <p:cNvSpPr/>
          <p:nvPr/>
        </p:nvSpPr>
        <p:spPr>
          <a:xfrm>
            <a:off x="772668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2376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VISUALISE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Power BI Dashboard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9808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22376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 interactive pages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376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 cards &amp; slicers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2376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Drill-through NAV chart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PDF export ready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This mirrors real-world fintech pipelines used at Zerodha, Groww, and Paytm Money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EDA Highlights — NAV &amp; AUM Trends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Rs. 81L Cr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Industry AUM Dec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Rs. 31,002 Cr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1460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SIP Inflows ATH Dec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26.12 Cr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Total Folios Dec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9.35 Cr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228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Active SIP Accounts</a:t>
            </a:r>
            <a:endParaRPr lang="en-US" sz="9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365760" y="192024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"/>
          <p:cNvGraphicFramePr/>
          <p:nvPr/>
        </p:nvGraphicFramePr>
        <p:xfrm>
          <a:off x="5577840" y="1920240"/>
          <a:ext cx="3474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EDA Highlights — Investor &amp; Category Insights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9144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572000" y="91440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4251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A1A5"/>
                </a:solidFill>
              </a:rPr>
              <a:t>Key EDA Findings: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2103120" y="425196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26–35 age group drives 38% of all SIP investments  ·  Index funds lead FY25 with Rs.18,600 Cr net inflows  ·  T30 cities contribute 72% of total AUM  ·  Folio count doubled: 13.26 Cr (2022) → 26.12 Cr (2025)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Fund Performance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Sharpe Ratio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(Rp − Rf) / σp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Rf = 6.5% (RBI repo)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93392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93392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Sortino Ratio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93392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(Rp − Rf) / σdown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Penalises downside only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12464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Alpha (α)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12464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OLS intercept × 252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12464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vs Nifty 100 benchmark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31536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BE185D"/>
          </a:solidFill>
          <a:ln/>
        </p:spPr>
      </p:sp>
      <p:sp>
        <p:nvSpPr>
          <p:cNvPr id="20" name="Text 18"/>
          <p:cNvSpPr/>
          <p:nvPr/>
        </p:nvSpPr>
        <p:spPr>
          <a:xfrm>
            <a:off x="5431536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Beta (β)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31536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OLS slope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31536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Market sensitivity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50608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50608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150608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Max Drawdown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50608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min(NAV / max_NAV − 1)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50608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Worst peak-to-trough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F7A8B"/>
                </a:solidFill>
              </a:rPr>
              <a:t>Fund Scorecard — Top 8 Funds (Composite Score = 30%×Return + 25%×Sharpe + 20%×Alpha + 15%×Expense + 10%×DrawdownInverse)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7863840" cy="2458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3Yr CAGR%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Beta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Max DD%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Score/100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SBI Bluechip Fund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17.8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1.42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–14.2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HDFC Top 100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16.5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–16.8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ICICI Pru Bluechip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1.51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–13.1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Nippon India Large Cap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15.9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1.19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–17.4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Axis Bluechip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1.11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–18.9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Mirae Asset Large Cap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17.1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1.38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–15.0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Kotak Bluechip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–16.2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UTI Nifty 50 Index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1.33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–15.5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Benchmark Comparison &amp; Risk Analysis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9144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035040" y="914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A1A5"/>
                </a:solidFill>
              </a:rPr>
              <a:t>VALUE AT RISK — 95% CONFIDENCE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80160"/>
          <a:ext cx="292608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Fund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 95%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CVaR 95%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ICICI Pru Bluechip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–1.52%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–2.18%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SBI Bluechip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–1.68%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–2.35%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Nippon Large Cap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–1.83%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–2.61%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Axis Bluechip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–1.91%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–2.74%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Nifty 50 Index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–1.45%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–2.05%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320040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0B2447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Tracking Error Insight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35040" y="358444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8DD"/>
                </a:solidFill>
              </a:rPr>
              <a:t>ICICI Pru Bluechip: </a:t>
            </a:r>
            <a:r>
              <a:rPr lang="en-US" sz="900" dirty="0">
                <a:solidFill>
                  <a:srgbClr val="A5D8DD"/>
                </a:solidFill>
              </a:rPr>
              <a:t>TE = 2.3%, IR = 1.21
</a:t>
            </a:r>
            <a:r>
              <a:rPr lang="en-US" sz="900" b="1" dirty="0">
                <a:solidFill>
                  <a:srgbClr val="A5D8DD"/>
                </a:solidFill>
              </a:rPr>
              <a:t>SBI Bluechip: </a:t>
            </a:r>
            <a:r>
              <a:rPr lang="en-US" sz="900" dirty="0">
                <a:solidFill>
                  <a:srgbClr val="A5D8DD"/>
                </a:solidFill>
              </a:rPr>
              <a:t>TE = 2.8%, IR = 0.96
</a:t>
            </a:r>
            <a:r>
              <a:rPr lang="en-US" sz="900" i="1" dirty="0">
                <a:solidFill>
                  <a:srgbClr val="A5D8DD"/>
                </a:solidFill>
              </a:rPr>
              <a:t>Active funds justify cost via consistent alpha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sh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CA1A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sh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CA1A5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sh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CA1A5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Key Findings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10789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SIP Momentum is Structural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SIP inflows grew 3x from Rs.11K Cr (Jan-22) to Rs.31K Cr (Dec-25). Dashboard confirms YoY growth of 53% in SIP accounts. Not cyclical — deep retail equity adoption.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73168" y="10789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9" name="Text 7"/>
          <p:cNvSpPr/>
          <p:nvPr/>
        </p:nvSpPr>
        <p:spPr>
          <a:xfrm>
            <a:off x="5010912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Active Funds Beat Passive in Large Cap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3898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Dashboard: Avg CAGR 16.72%, Avg Sharpe 1.96, Avg Alpha 15.91 across all schemes. ICICI Pru generated +2.8% annual alpha over Nifty 100 across 3 years.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4505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Sector Concentration Risk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3 of 10 equity funds show HHI &gt; 0.25. Financial Services averages 38% portfolio weight. Overexposure risk for investors holding multiple large-cap funds.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24505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Young Investors Dominate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761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Dashboard confirms age groups are nearly equally distributed. 26–35 cohort shows highest SIP continuity (avg gap &lt; 32 days vs 40-day at-risk threshold).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8221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Lumpsum Dominates Transactions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Dashboard Page 3: Lumpsum = 58.5%, SIP = 35.3%, Redemption = 6.2%. Punjab &amp; Tamil Nadu lead transaction amounts — B30 cities remain under-penetrated.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657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38221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Recommendation: Index + Active 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For Moderate risk investors: Nifty 50 Index + ICICI Pru Bluechip delivers best risk-adjusted outcome. Active large-cap funds justified their alpha at 1.96 avg Sharpe.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</a:rPr>
              <a:t>BLUESTOCK FINTECH  |  DATA ANALYTICS INTERNSHIP  | 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5D8DD"/>
                </a:solidFill>
              </a:rPr>
              <a:t>Mutual Fund Analytics Platform — Bluestock Fintech Capstone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Intern: 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Manisha Ravikumar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GitHub: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github.com/manisha-ravi/bluestock_mf_capstone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LinkedIn: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linkedin.com/in/manisha-ravikumar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Email: 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manisharavi0621@gmail.com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B3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7823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All data sourced from AMFI India, mfapi.in &amp; NSE/BSE public data. For educational purposes only. Not financial advice.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1488</Words>
  <Application>Microsoft Office PowerPoint</Application>
  <PresentationFormat>On-screen Show (16:9)</PresentationFormat>
  <Paragraphs>299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– Mutual Fund Analytics Platform</dc:title>
  <dc:subject>PptxGenJS Presentation</dc:subject>
  <dc:creator>Manisha Ravikumar</dc:creator>
  <cp:lastModifiedBy>Abcom</cp:lastModifiedBy>
  <cp:revision>2</cp:revision>
  <dcterms:created xsi:type="dcterms:W3CDTF">2026-06-12T11:02:06Z</dcterms:created>
  <dcterms:modified xsi:type="dcterms:W3CDTF">2026-06-12T11:07:02Z</dcterms:modified>
</cp:coreProperties>
</file>